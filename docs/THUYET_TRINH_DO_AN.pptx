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777240"/>
            <a:ext cx="868680" cy="8686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868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TM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3657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 i="0">
                <a:solidFill>
                  <a:srgbClr val="C7D2FE"/>
                </a:solidFill>
                <a:latin typeface="Arial"/>
              </a:rPr>
              <a:t>BỘ GIÁO DỤC VÀ ĐÀO TẠO</a:t>
            </a:r>
          </a:p>
          <a:p>
            <a:pPr algn="l">
              <a:lnSpc>
                <a:spcPct val="150000"/>
              </a:lnSpc>
            </a:pPr>
            <a:r>
              <a:rPr sz="1200" b="1" i="0">
                <a:solidFill>
                  <a:srgbClr val="C7D2FE"/>
                </a:solidFill>
                <a:latin typeface="Arial"/>
              </a:rPr>
              <a:t>TRƯỜNG ĐẠI HỌC CÔNG NGHỆ TP.HCM</a:t>
            </a:r>
          </a:p>
          <a:p>
            <a:pPr algn="l">
              <a:lnSpc>
                <a:spcPct val="150000"/>
              </a:lnSpc>
            </a:pPr>
            <a:r>
              <a:rPr sz="1200" b="1" i="0">
                <a:solidFill>
                  <a:srgbClr val="C7D2FE"/>
                </a:solidFill>
                <a:latin typeface="Arial"/>
              </a:rPr>
              <a:t>KHOA CÔNG NGHỆ THÔNG TIN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F59E0B"/>
                </a:solidFill>
                <a:latin typeface="Arial"/>
              </a:rPr>
              <a:t>ĐỒ ÁN CƠ SỞ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778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5B4FC"/>
                </a:solidFill>
                <a:latin typeface="Arial"/>
              </a:rPr>
              <a:t>Tháng 5 năm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41732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EC4899"/>
                </a:solidFill>
                <a:latin typeface="Arial"/>
              </a:rPr>
              <a:t>ĐỀ TÀI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783080"/>
            <a:ext cx="67665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 i="0">
                <a:solidFill>
                  <a:srgbClr val="FFFFFF"/>
                </a:solidFill>
                <a:latin typeface="Arial"/>
              </a:rPr>
              <a:t>HỆ THỐNG QUẢN LÝ CÔNG VIỆC CHO DOANH NGHIỆP NHỎ ĐA NGÀNH TÍCH HỢP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3977639"/>
            <a:ext cx="1554480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416052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1">
                <a:solidFill>
                  <a:srgbClr val="C7D2FE"/>
                </a:solidFill>
                <a:latin typeface="Arial"/>
              </a:rPr>
              <a:t>Ứng dụng Web · Mobile · tích hợp Google Gemini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8006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A5B4FC"/>
                </a:solidFill>
                <a:latin typeface="Arial"/>
              </a:rPr>
              <a:t>Giảng viên hướng dẫn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80060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ThS. Dương Thành Phết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522122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A5B4FC"/>
                </a:solidFill>
                <a:latin typeface="Arial"/>
              </a:rPr>
              <a:t>Sinh viên thực hiện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5221224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Nguyễn Nhật Hảo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564184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A5B4FC"/>
                </a:solidFill>
                <a:latin typeface="Arial"/>
              </a:rPr>
              <a:t>Mã số sinh viên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641848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2380612688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606247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A5B4FC"/>
                </a:solidFill>
                <a:latin typeface="Arial"/>
              </a:rPr>
              <a:t>Lớp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6062472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23DTHC1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46304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C7D2FE"/>
                </a:solidFill>
                <a:latin typeface="Arial"/>
              </a:rPr>
              <a:t>MỞ ĐẦU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Nội dung trình bày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lý Công việc cho Doanh nghiệp Nhỏ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 i="0">
                <a:solidFill>
                  <a:srgbClr val="4F46E5"/>
                </a:solidFill>
                <a:latin typeface="Arial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1691640"/>
            <a:ext cx="566928" cy="5669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28216"/>
            <a:ext cx="5669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55648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E293B"/>
                </a:solidFill>
                <a:latin typeface="Arial"/>
              </a:rPr>
              <a:t>Đặt vấn đề &amp; mục tiêu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450592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487168"/>
            <a:ext cx="5669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51460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E293B"/>
                </a:solidFill>
                <a:latin typeface="Arial"/>
              </a:rPr>
              <a:t>Công nghệ &amp; kiến trúc hệ thống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209544"/>
            <a:ext cx="566928" cy="56692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46120"/>
            <a:ext cx="5669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273552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E293B"/>
                </a:solidFill>
                <a:latin typeface="Arial"/>
              </a:rPr>
              <a:t>Các chức năng chính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968496"/>
            <a:ext cx="566928" cy="56692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05072"/>
            <a:ext cx="5669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032504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E293B"/>
                </a:solidFill>
                <a:latin typeface="Arial"/>
              </a:rPr>
              <a:t>Điểm nhấn: AI gợi ý &amp; giao diện song ngữ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7274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764024"/>
            <a:ext cx="5669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791456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E293B"/>
                </a:solidFill>
                <a:latin typeface="Arial"/>
              </a:rPr>
              <a:t>Kiểm thử &amp; triển khai trên AWS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5486400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522976"/>
            <a:ext cx="5669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550408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E293B"/>
                </a:solidFill>
                <a:latin typeface="Arial"/>
              </a:rPr>
              <a:t>Kết quả, hạn chế &amp; hướng phát triển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46304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C7D2FE"/>
                </a:solidFill>
                <a:latin typeface="Arial"/>
              </a:rPr>
              <a:t>PHẦN 1 · TỔNG QUAN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Đặt vấn đề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lý Công việc cho Doanh nghiệp Nhỏ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 i="0">
                <a:solidFill>
                  <a:srgbClr val="4F46E5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4F46E5"/>
                </a:solidFill>
                <a:latin typeface="Arial"/>
              </a:rPr>
              <a:t>▸  </a:t>
            </a:r>
            <a:r>
              <a:rPr sz="1900">
                <a:solidFill>
                  <a:srgbClr val="1E293B"/>
                </a:solidFill>
                <a:latin typeface="Arial"/>
              </a:rPr>
              <a:t>Doanh nghiệp nhỏ đa ngành quản lý công việc thủ công qua Excel, tin nhắn, giấy tờ — dữ liệu phân tán, khó theo dõi.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4F46E5"/>
                </a:solidFill>
                <a:latin typeface="Arial"/>
              </a:rPr>
              <a:t>▸  </a:t>
            </a:r>
            <a:r>
              <a:rPr sz="1900">
                <a:solidFill>
                  <a:srgbClr val="1E293B"/>
                </a:solidFill>
                <a:latin typeface="Arial"/>
              </a:rPr>
              <a:t>Không có nguồn thông tin thống nhất (single source of truth) về tiến độ công việc.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4F46E5"/>
                </a:solidFill>
                <a:latin typeface="Arial"/>
              </a:rPr>
              <a:t>▸  </a:t>
            </a:r>
            <a:r>
              <a:rPr sz="1900">
                <a:solidFill>
                  <a:srgbClr val="1E293B"/>
                </a:solidFill>
                <a:latin typeface="Arial"/>
              </a:rPr>
              <a:t>Phân công nhân sự theo cảm tính, chưa dựa trên dữ liệu năng lực và lịch sử thực tế.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4F46E5"/>
                </a:solidFill>
                <a:latin typeface="Arial"/>
              </a:rPr>
              <a:t>▸  </a:t>
            </a:r>
            <a:r>
              <a:rPr sz="1900">
                <a:solidFill>
                  <a:srgbClr val="1E293B"/>
                </a:solidFill>
                <a:latin typeface="Arial"/>
              </a:rPr>
              <a:t>Phần mềm thương mại đắt, nặng, nhiều tính năng thừa so với nhu cầu doanh nghiệp nhỏ.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4F46E5"/>
                </a:solidFill>
                <a:latin typeface="Arial"/>
              </a:rPr>
              <a:t>▸  </a:t>
            </a:r>
            <a:r>
              <a:rPr sz="1900">
                <a:solidFill>
                  <a:srgbClr val="1E293B"/>
                </a:solidFill>
                <a:latin typeface="Arial"/>
              </a:rPr>
              <a:t>Chưa khai thác trí tuệ nhân tạo (AI) để hỗ trợ ra quyết định phân công.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46304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C7D2FE"/>
                </a:solidFill>
                <a:latin typeface="Arial"/>
              </a:rPr>
              <a:t>PHẦN 1 · TỔNG QUAN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Mục tiêu đề tài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lý Công việc cho Doanh nghiệp Nhỏ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 i="0">
                <a:solidFill>
                  <a:srgbClr val="4F46E5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4F46E5"/>
                </a:solidFill>
                <a:latin typeface="Arial"/>
              </a:rPr>
              <a:t>▸  </a:t>
            </a:r>
            <a:r>
              <a:rPr sz="1900">
                <a:solidFill>
                  <a:srgbClr val="1E293B"/>
                </a:solidFill>
                <a:latin typeface="Arial"/>
              </a:rPr>
              <a:t>Xây dựng hệ thống quản lý công việc gọn nhẹ, chi phí thấp, phù hợp doanh nghiệp nhỏ.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4F46E5"/>
                </a:solidFill>
                <a:latin typeface="Arial"/>
              </a:rPr>
              <a:t>▸  </a:t>
            </a:r>
            <a:r>
              <a:rPr sz="1900">
                <a:solidFill>
                  <a:srgbClr val="1E293B"/>
                </a:solidFill>
                <a:latin typeface="Arial"/>
              </a:rPr>
              <a:t>Kiến trúc đa nền tảng: Web (React) + Mobile (Flutter) + Backend (Spring Boot).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4F46E5"/>
                </a:solidFill>
                <a:latin typeface="Arial"/>
              </a:rPr>
              <a:t>▸  </a:t>
            </a:r>
            <a:r>
              <a:rPr sz="1900">
                <a:solidFill>
                  <a:srgbClr val="1E293B"/>
                </a:solidFill>
                <a:latin typeface="Arial"/>
              </a:rPr>
              <a:t>Tích hợp AI (Google Gemini) gợi ý nhân viên phù hợp nhất cho từng công việc.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4F46E5"/>
                </a:solidFill>
                <a:latin typeface="Arial"/>
              </a:rPr>
              <a:t>▸  </a:t>
            </a:r>
            <a:r>
              <a:rPr sz="1900">
                <a:solidFill>
                  <a:srgbClr val="1E293B"/>
                </a:solidFill>
                <a:latin typeface="Arial"/>
              </a:rPr>
              <a:t>Bảo mật bằng JWT, phân quyền 3 vai trò: ADMIN / MANAGER / EMPLOYEE.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4F46E5"/>
                </a:solidFill>
                <a:latin typeface="Arial"/>
              </a:rPr>
              <a:t>▸  </a:t>
            </a:r>
            <a:r>
              <a:rPr sz="1900">
                <a:solidFill>
                  <a:srgbClr val="1E293B"/>
                </a:solidFill>
                <a:latin typeface="Arial"/>
              </a:rPr>
              <a:t>Đóng gói bằng Docker, triển khai được thực tế trên hạ tầng đám mây.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46304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C7D2FE"/>
                </a:solidFill>
                <a:latin typeface="Arial"/>
              </a:rPr>
              <a:t>PHẦN 2 · CÔNG NGHỆ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Công nghệ sử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lý Công việc cho Doanh nghiệp Nhỏ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 i="0">
                <a:solidFill>
                  <a:srgbClr val="4F46E5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91640"/>
            <a:ext cx="3419856" cy="2148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691640"/>
            <a:ext cx="3419856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947672"/>
            <a:ext cx="28712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4F46E5"/>
                </a:solidFill>
                <a:latin typeface="Arial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41448"/>
            <a:ext cx="287121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93B"/>
                </a:solidFill>
                <a:latin typeface="Arial"/>
              </a:rPr>
              <a:t>Java 17 · Spring Boot 3.5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93B"/>
                </a:solidFill>
                <a:latin typeface="Arial"/>
              </a:rPr>
              <a:t>Spring Security + JWT · JPA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1691640"/>
            <a:ext cx="3419856" cy="2148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53128" y="1691640"/>
            <a:ext cx="3419856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1947672"/>
            <a:ext cx="28712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7C3AED"/>
                </a:solidFill>
                <a:latin typeface="Arial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441448"/>
            <a:ext cx="287121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93B"/>
                </a:solidFill>
                <a:latin typeface="Arial"/>
              </a:rPr>
              <a:t>React 18 · Vite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93B"/>
                </a:solidFill>
                <a:latin typeface="Arial"/>
              </a:rPr>
              <a:t>Tailwind CSS · Chart.js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6" y="1691640"/>
            <a:ext cx="3419856" cy="2148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37576" y="1691640"/>
            <a:ext cx="3419856" cy="10972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1947672"/>
            <a:ext cx="28712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EC4899"/>
                </a:solidFill>
                <a:latin typeface="Arial"/>
              </a:rPr>
              <a:t>Mobile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441448"/>
            <a:ext cx="287121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93B"/>
                </a:solidFill>
                <a:latin typeface="Arial"/>
              </a:rPr>
              <a:t>Flutter 3.x · Dart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93B"/>
                </a:solidFill>
                <a:latin typeface="Arial"/>
              </a:rPr>
              <a:t>chạy đa nền tảng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114800"/>
            <a:ext cx="3419856" cy="2148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4114800"/>
            <a:ext cx="3419856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370832"/>
            <a:ext cx="28712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6B6D4"/>
                </a:solidFill>
                <a:latin typeface="Arial"/>
              </a:rPr>
              <a:t>CSDL &amp; Cache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864608"/>
            <a:ext cx="287121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93B"/>
                </a:solidFill>
                <a:latin typeface="Arial"/>
              </a:rPr>
              <a:t>PostgreSQL 16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93B"/>
                </a:solidFill>
                <a:latin typeface="Arial"/>
              </a:rPr>
              <a:t>Redis 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53128" y="4114800"/>
            <a:ext cx="3419856" cy="2148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53128" y="4114800"/>
            <a:ext cx="3419856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27448" y="4370832"/>
            <a:ext cx="28712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0B981"/>
                </a:solidFill>
                <a:latin typeface="Arial"/>
              </a:rPr>
              <a:t>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7448" y="4864608"/>
            <a:ext cx="287121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93B"/>
                </a:solidFill>
                <a:latin typeface="Arial"/>
              </a:rPr>
              <a:t>Google Gemini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93B"/>
                </a:solidFill>
                <a:latin typeface="Arial"/>
              </a:rPr>
              <a:t>gemini-2.5-flash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37576" y="4114800"/>
            <a:ext cx="3419856" cy="2148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37576" y="4114800"/>
            <a:ext cx="3419856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11896" y="4370832"/>
            <a:ext cx="28712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F59E0B"/>
                </a:solidFill>
                <a:latin typeface="Arial"/>
              </a:rPr>
              <a:t>Hạ tầng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1896" y="4864608"/>
            <a:ext cx="287121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93B"/>
                </a:solidFill>
                <a:latin typeface="Arial"/>
              </a:rPr>
              <a:t>Docker · Caddy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93B"/>
                </a:solidFill>
                <a:latin typeface="Arial"/>
              </a:rPr>
              <a:t>AWS EC2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46304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C7D2FE"/>
                </a:solidFill>
                <a:latin typeface="Arial"/>
              </a:rPr>
              <a:t>PHẦN 2 · CÔNG NGHỆ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Kiến trúc tổng thể hệ thống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lý Công việc cho Doanh nghiệp Nhỏ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 i="0">
                <a:solidFill>
                  <a:srgbClr val="4F46E5"/>
                </a:solidFill>
                <a:latin typeface="Arial"/>
              </a:rPr>
              <a:t>6</a:t>
            </a:r>
          </a:p>
        </p:txBody>
      </p:sp>
      <p:pic>
        <p:nvPicPr>
          <p:cNvPr id="9" name="Picture 8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817" y="1760219"/>
            <a:ext cx="3981005" cy="4434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6640" y="1828800"/>
            <a:ext cx="4297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4F46E5"/>
                </a:solidFill>
                <a:latin typeface="Arial"/>
              </a:rPr>
              <a:t>▸  </a:t>
            </a:r>
            <a:r>
              <a:rPr sz="1500">
                <a:solidFill>
                  <a:srgbClr val="1E293B"/>
                </a:solidFill>
                <a:latin typeface="Arial"/>
              </a:rPr>
              <a:t>Mô hình 3 tầng: Client – Ứng dụng – Dữ liệu.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4F46E5"/>
                </a:solidFill>
                <a:latin typeface="Arial"/>
              </a:rPr>
              <a:t>▸  </a:t>
            </a:r>
            <a:r>
              <a:rPr sz="1500">
                <a:solidFill>
                  <a:srgbClr val="1E293B"/>
                </a:solidFill>
                <a:latin typeface="Arial"/>
              </a:rPr>
              <a:t>Client: Web React + Mobile Flutter.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4F46E5"/>
                </a:solidFill>
                <a:latin typeface="Arial"/>
              </a:rPr>
              <a:t>▸  </a:t>
            </a:r>
            <a:r>
              <a:rPr sz="1500">
                <a:solidFill>
                  <a:srgbClr val="1E293B"/>
                </a:solidFill>
                <a:latin typeface="Arial"/>
              </a:rPr>
              <a:t>Tầng ứng dụng: Spring Boot REST API, bảo mật JWT, cache.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4F46E5"/>
                </a:solidFill>
                <a:latin typeface="Arial"/>
              </a:rPr>
              <a:t>▸  </a:t>
            </a:r>
            <a:r>
              <a:rPr sz="1500">
                <a:solidFill>
                  <a:srgbClr val="1E293B"/>
                </a:solidFill>
                <a:latin typeface="Arial"/>
              </a:rPr>
              <a:t>Tầng dữ liệu: PostgreSQL + Redis.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4F46E5"/>
                </a:solidFill>
                <a:latin typeface="Arial"/>
              </a:rPr>
              <a:t>▸  </a:t>
            </a:r>
            <a:r>
              <a:rPr sz="1500">
                <a:solidFill>
                  <a:srgbClr val="1E293B"/>
                </a:solidFill>
                <a:latin typeface="Arial"/>
              </a:rPr>
              <a:t>AI qua Google Gemini API.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46304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C7D2FE"/>
                </a:solidFill>
                <a:latin typeface="Arial"/>
              </a:rPr>
              <a:t>PHẦN 2 · PHÂN TÍCH THIẾT KẾ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Sơ đồ Use Case tổng thể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lý Công việc cho Doanh nghiệp Nhỏ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 i="0">
                <a:solidFill>
                  <a:srgbClr val="4F46E5"/>
                </a:solidFill>
                <a:latin typeface="Arial"/>
              </a:rPr>
              <a:t>7</a:t>
            </a:r>
          </a:p>
        </p:txBody>
      </p:sp>
      <p:pic>
        <p:nvPicPr>
          <p:cNvPr id="9" name="Picture 8" descr="use-case-tong-t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088" y="1691640"/>
            <a:ext cx="1325631" cy="46634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46304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C7D2FE"/>
                </a:solidFill>
                <a:latin typeface="Arial"/>
              </a:rPr>
              <a:t>PHẦN 3 · CHỨC NĂNG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Các chức năng chính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lý Công việc cho Doanh nghiệp Nhỏ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 i="0">
                <a:solidFill>
                  <a:srgbClr val="4F46E5"/>
                </a:solidFill>
                <a:latin typeface="Arial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91640"/>
            <a:ext cx="254203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4712" y="196596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2560320"/>
            <a:ext cx="208483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293B"/>
                </a:solidFill>
                <a:latin typeface="Arial"/>
              </a:rPr>
              <a:t>Xác thực &amp; phân quyền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3172968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Arial"/>
              </a:rPr>
              <a:t>3 vai trò, JWT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75304" y="1691640"/>
            <a:ext cx="254203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831336" y="19659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3048" y="2560320"/>
            <a:ext cx="208483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293B"/>
                </a:solidFill>
                <a:latin typeface="Arial"/>
              </a:rPr>
              <a:t>Quản lý nhân viên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048" y="3172968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Arial"/>
              </a:rPr>
              <a:t>CRUD kèm kỹ năng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1691640"/>
            <a:ext cx="254203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37960" y="1965960"/>
            <a:ext cx="457200" cy="45720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2560320"/>
            <a:ext cx="208483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293B"/>
                </a:solidFill>
                <a:latin typeface="Arial"/>
              </a:rPr>
              <a:t>Quản lý dự án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3172968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Arial"/>
              </a:rPr>
              <a:t>CRUD, gán nhân sự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8551" y="1691640"/>
            <a:ext cx="254203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44583" y="196596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6295" y="2560320"/>
            <a:ext cx="208483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293B"/>
                </a:solidFill>
                <a:latin typeface="Arial"/>
              </a:rPr>
              <a:t>Quản lý công việc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5" y="3172968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Arial"/>
              </a:rPr>
              <a:t>Giao việc, tiến độ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4050791"/>
            <a:ext cx="254203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24712" y="432511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6424" y="4919472"/>
            <a:ext cx="208483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293B"/>
                </a:solidFill>
                <a:latin typeface="Arial"/>
              </a:rPr>
              <a:t>Chấm công GPS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" y="5532120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Arial"/>
              </a:rPr>
              <a:t>Geofence đa văn phòng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75304" y="4050791"/>
            <a:ext cx="254203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31336" y="432511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13048" y="4919472"/>
            <a:ext cx="208483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293B"/>
                </a:solidFill>
                <a:latin typeface="Arial"/>
              </a:rPr>
              <a:t>AI gợi ý nhân viên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3048" y="5532120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Arial"/>
              </a:rPr>
              <a:t>Top 5 phù hợp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81928" y="4050791"/>
            <a:ext cx="254203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37960" y="4325112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4919472"/>
            <a:ext cx="208483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293B"/>
                </a:solidFill>
                <a:latin typeface="Arial"/>
              </a:rPr>
              <a:t>Dashboard thống kê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9672" y="5532120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Arial"/>
              </a:rPr>
              <a:t>Biểu đồ trực quan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88551" y="4050791"/>
            <a:ext cx="254203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44583" y="432511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26295" y="4919472"/>
            <a:ext cx="208483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293B"/>
                </a:solidFill>
                <a:latin typeface="Arial"/>
              </a:rPr>
              <a:t>Giao diện song ngữ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26295" y="5532120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Arial"/>
              </a:rPr>
              <a:t>Việt / Anh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46304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C7D2FE"/>
                </a:solidFill>
                <a:latin typeface="Arial"/>
              </a:rPr>
              <a:t>PHẦN 4 · ĐIỂM NHẤN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AI gợi ý nhân viên phù hợp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lý Công việc cho Doanh nghiệp Nhỏ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 i="0">
                <a:solidFill>
                  <a:srgbClr val="4F46E5"/>
                </a:solidFill>
                <a:latin typeface="Arial"/>
              </a:rPr>
              <a:t>9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01368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755648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4F46E5"/>
                </a:solidFill>
                <a:latin typeface="Arial"/>
              </a:rPr>
              <a:t>Nhập yêu cầu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121408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E293B"/>
                </a:solidFill>
                <a:latin typeface="Arial"/>
              </a:rPr>
              <a:t>Manager nhập tiêu đề, mô tả công việc, kỹ năng yêu cầu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15768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670048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7C3AED"/>
                </a:solidFill>
                <a:latin typeface="Arial"/>
              </a:rPr>
              <a:t>Gom dữ liệu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035808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E293B"/>
                </a:solidFill>
                <a:latin typeface="Arial"/>
              </a:rPr>
              <a:t>Backend tổng hợp lịch sử task, đúng hạn, chấm công, kỹ năng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566160"/>
            <a:ext cx="640080" cy="64008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30168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584448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EC4899"/>
                </a:solidFill>
                <a:latin typeface="Arial"/>
              </a:rPr>
              <a:t>Gọi Gemini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950208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E293B"/>
                </a:solidFill>
                <a:latin typeface="Arial"/>
              </a:rPr>
              <a:t>Xây prompt → Google Gemini gemini-2.5-flash xếp hạng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48056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44568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498848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0B981"/>
                </a:solidFill>
                <a:latin typeface="Arial"/>
              </a:rPr>
              <a:t>Trả kết quả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864608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E293B"/>
                </a:solidFill>
                <a:latin typeface="Arial"/>
              </a:rPr>
              <a:t>TOP 5 nhân viên kèm lý do; cache Redis 5 phút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532120"/>
            <a:ext cx="10424160" cy="84124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568756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293B"/>
                </a:solidFill>
                <a:latin typeface="Arial"/>
              </a:rPr>
              <a:t>Cache Redis: request lặp lại trên cùng công việc giảm từ ~1450 ms xuống dưới 10 ms.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46304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C7D2FE"/>
                </a:solidFill>
                <a:latin typeface="Arial"/>
              </a:rPr>
              <a:t>PHẦN 4 · ĐIỂM NHẤN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Giao diện song ngữ Việt / Anh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lý Công việc cho Doanh nghiệp Nhỏ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 i="0">
                <a:solidFill>
                  <a:srgbClr val="4F46E5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6035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4F46E5"/>
                </a:solidFill>
                <a:latin typeface="Arial"/>
              </a:rPr>
              <a:t>▸  </a:t>
            </a:r>
            <a:r>
              <a:rPr sz="1600">
                <a:solidFill>
                  <a:srgbClr val="1E293B"/>
                </a:solidFill>
                <a:latin typeface="Arial"/>
              </a:rPr>
              <a:t>Toàn bộ giao diện hỗ trợ Tiếng Việt và English, chuyển đổi tức thì.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4F46E5"/>
                </a:solidFill>
                <a:latin typeface="Arial"/>
              </a:rPr>
              <a:t>▸  </a:t>
            </a:r>
            <a:r>
              <a:rPr sz="1600">
                <a:solidFill>
                  <a:srgbClr val="1E293B"/>
                </a:solidFill>
                <a:latin typeface="Arial"/>
              </a:rPr>
              <a:t>Cơ chế i18n tự xây dựng: LanguageContext + từ điển dịch + hàm t().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4F46E5"/>
                </a:solidFill>
                <a:latin typeface="Arial"/>
              </a:rPr>
              <a:t>▸  </a:t>
            </a:r>
            <a:r>
              <a:rPr sz="1600">
                <a:solidFill>
                  <a:srgbClr val="1E293B"/>
                </a:solidFill>
                <a:latin typeface="Arial"/>
              </a:rPr>
              <a:t>Nút cờ VI / EN, lưu lựa chọn vào localStorage — nhớ ở lần sau.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4F46E5"/>
                </a:solidFill>
                <a:latin typeface="Arial"/>
              </a:rPr>
              <a:t>▸  </a:t>
            </a:r>
            <a:r>
              <a:rPr sz="1600">
                <a:solidFill>
                  <a:srgbClr val="1E293B"/>
                </a:solidFill>
                <a:latin typeface="Arial"/>
              </a:rPr>
              <a:t>Dịch hoàn toàn phía client, KHÔNG phụ thuộc Google Translate.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4F46E5"/>
                </a:solidFill>
                <a:latin typeface="Arial"/>
              </a:rPr>
              <a:t>▸  </a:t>
            </a:r>
            <a:r>
              <a:rPr sz="1600">
                <a:solidFill>
                  <a:srgbClr val="1E293B"/>
                </a:solidFill>
                <a:latin typeface="Arial"/>
              </a:rPr>
              <a:t>Mọi trang và component đều lấy chuỗi hiển thị qua hàm t().</a:t>
            </a:r>
          </a:p>
        </p:txBody>
      </p:sp>
      <p:pic>
        <p:nvPicPr>
          <p:cNvPr id="10" name="Picture 9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463164"/>
            <a:ext cx="4846320" cy="30289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46304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C7D2FE"/>
                </a:solidFill>
                <a:latin typeface="Arial"/>
              </a:rPr>
              <a:t>PHẦN 3 · CHỨC NĂNG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Chấm công GPS &amp; Geofence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lý Công việc cho Doanh nghiệp Nhỏ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 i="0">
                <a:solidFill>
                  <a:srgbClr val="4F46E5"/>
                </a:solidFill>
                <a:latin typeface="Arial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4F46E5"/>
                </a:solidFill>
                <a:latin typeface="Arial"/>
              </a:rPr>
              <a:t>▸  </a:t>
            </a:r>
            <a:r>
              <a:rPr sz="1600">
                <a:solidFill>
                  <a:srgbClr val="1E293B"/>
                </a:solidFill>
                <a:latin typeface="Arial"/>
              </a:rPr>
              <a:t>Cấu hình nhiều văn phòng: toạ độ + bán kính cho phép.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4F46E5"/>
                </a:solidFill>
                <a:latin typeface="Arial"/>
              </a:rPr>
              <a:t>▸  </a:t>
            </a:r>
            <a:r>
              <a:rPr sz="1600">
                <a:solidFill>
                  <a:srgbClr val="1E293B"/>
                </a:solidFill>
                <a:latin typeface="Arial"/>
              </a:rPr>
              <a:t>Chấm công kèm vị trí GPS, tính khoảng cách Haversine.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4F46E5"/>
                </a:solidFill>
                <a:latin typeface="Arial"/>
              </a:rPr>
              <a:t>▸  </a:t>
            </a:r>
            <a:r>
              <a:rPr sz="1600">
                <a:solidFill>
                  <a:srgbClr val="1E293B"/>
                </a:solidFill>
                <a:latin typeface="Arial"/>
              </a:rPr>
              <a:t>Ngoài vùng hoặc nghi GPS giả → trạng thái PENDING_REVIEW chờ quản lý duyệt.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4F46E5"/>
                </a:solidFill>
                <a:latin typeface="Arial"/>
              </a:rPr>
              <a:t>▸  </a:t>
            </a:r>
            <a:r>
              <a:rPr sz="1600">
                <a:solidFill>
                  <a:srgbClr val="1E293B"/>
                </a:solidFill>
                <a:latin typeface="Arial"/>
              </a:rPr>
              <a:t>Bản đồ Leaflet / OpenStreetMap hiển thị trực quan.</a:t>
            </a:r>
          </a:p>
        </p:txBody>
      </p:sp>
      <p:pic>
        <p:nvPicPr>
          <p:cNvPr id="10" name="Picture 9" descr="15_my_attendanc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34589"/>
            <a:ext cx="4937760" cy="30861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46304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C7D2FE"/>
                </a:solidFill>
                <a:latin typeface="Arial"/>
              </a:rPr>
              <a:t>PHẦN 3 · SẢN PHẨM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Demo giao diện hệ thống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lý Công việc cho Doanh nghiệp Nhỏ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 i="0">
                <a:solidFill>
                  <a:srgbClr val="4F46E5"/>
                </a:solidFill>
                <a:latin typeface="Arial"/>
              </a:rPr>
              <a:t>12</a:t>
            </a:r>
          </a:p>
        </p:txBody>
      </p:sp>
      <p:pic>
        <p:nvPicPr>
          <p:cNvPr id="9" name="Picture 8" descr="03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17420"/>
            <a:ext cx="5486400" cy="3429000"/>
          </a:xfrm>
          <a:prstGeom prst="rect">
            <a:avLst/>
          </a:prstGeom>
        </p:spPr>
      </p:pic>
      <p:pic>
        <p:nvPicPr>
          <p:cNvPr id="10" name="Picture 9" descr="09_ai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217420"/>
            <a:ext cx="5486400" cy="3429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1722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1">
                <a:solidFill>
                  <a:srgbClr val="64748B"/>
                </a:solidFill>
                <a:latin typeface="Arial"/>
              </a:rPr>
              <a:t>Dashboard quản lý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1722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1">
                <a:solidFill>
                  <a:srgbClr val="64748B"/>
                </a:solidFill>
                <a:latin typeface="Arial"/>
              </a:rPr>
              <a:t>Kết quả AI gợi ý nhân viên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46304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C7D2FE"/>
                </a:solidFill>
                <a:latin typeface="Arial"/>
              </a:rPr>
              <a:t>PHẦN 5 · KIỂM THỬ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Kiểm thử &amp; đánh giá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lý Công việc cho Doanh nghiệp Nhỏ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 i="0">
                <a:solidFill>
                  <a:srgbClr val="4F46E5"/>
                </a:solidFill>
                <a:latin typeface="Arial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737360"/>
            <a:ext cx="3310128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737360"/>
            <a:ext cx="109728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1883664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64748B"/>
                </a:solidFill>
                <a:latin typeface="Arial"/>
              </a:rPr>
              <a:t>UNIT TEST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194560"/>
            <a:ext cx="29443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293B"/>
                </a:solidFill>
                <a:latin typeface="Arial"/>
              </a:rPr>
              <a:t>34 test · 100%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737360"/>
            <a:ext cx="3310128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737360"/>
            <a:ext cx="109728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883664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64748B"/>
                </a:solidFill>
                <a:latin typeface="Arial"/>
              </a:rPr>
              <a:t>BUILD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194560"/>
            <a:ext cx="29443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293B"/>
                </a:solidFill>
                <a:latin typeface="Arial"/>
              </a:rPr>
              <a:t>Backend + Frontend sạch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737360"/>
            <a:ext cx="3310128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737360"/>
            <a:ext cx="109728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1883664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64748B"/>
                </a:solidFill>
                <a:latin typeface="Arial"/>
              </a:rPr>
              <a:t>NỀN TẢNG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194560"/>
            <a:ext cx="29443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293B"/>
                </a:solidFill>
                <a:latin typeface="Arial"/>
              </a:rPr>
              <a:t>Web + Mobile thật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52044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  <a:latin typeface="Arial"/>
              </a:rPr>
              <a:t>▸  </a:t>
            </a:r>
            <a:r>
              <a:rPr sz="1700">
                <a:solidFill>
                  <a:srgbClr val="1E293B"/>
                </a:solidFill>
                <a:latin typeface="Arial"/>
              </a:rPr>
              <a:t>Kiểm thử hộp đen theo từng module: Auth, Employee, Task, Attendance, AI.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  <a:latin typeface="Arial"/>
              </a:rPr>
              <a:t>▸  </a:t>
            </a:r>
            <a:r>
              <a:rPr sz="1700">
                <a:solidFill>
                  <a:srgbClr val="1E293B"/>
                </a:solidFill>
                <a:latin typeface="Arial"/>
              </a:rPr>
              <a:t>Unit test bằng JUnit 5 + Mockito cho tầng service và bảo mật.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  <a:latin typeface="Arial"/>
              </a:rPr>
              <a:t>▸  </a:t>
            </a:r>
            <a:r>
              <a:rPr sz="1700">
                <a:solidFill>
                  <a:srgbClr val="1E293B"/>
                </a:solidFill>
                <a:latin typeface="Arial"/>
              </a:rPr>
              <a:t>Kiểm thử thực nghiệm trên trình duyệt thật và thiết bị di động.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  <a:latin typeface="Arial"/>
              </a:rPr>
              <a:t>▸  </a:t>
            </a:r>
            <a:r>
              <a:rPr sz="1700">
                <a:solidFill>
                  <a:srgbClr val="1E293B"/>
                </a:solidFill>
                <a:latin typeface="Arial"/>
              </a:rPr>
              <a:t>Đo hiệu năng API AI: xác nhận hiệu quả của cache Redis.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46304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C7D2FE"/>
                </a:solidFill>
                <a:latin typeface="Arial"/>
              </a:rPr>
              <a:t>PHẦN 5 · TRIỂN KHAI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Triển khai thực tế trên 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lý Công việc cho Doanh nghiệp Nhỏ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 i="0">
                <a:solidFill>
                  <a:srgbClr val="4F46E5"/>
                </a:solidFill>
                <a:latin typeface="Arial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737360"/>
            <a:ext cx="3310128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737360"/>
            <a:ext cx="109728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1883664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64748B"/>
                </a:solidFill>
                <a:latin typeface="Arial"/>
              </a:rPr>
              <a:t>MÁY CHỦ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194560"/>
            <a:ext cx="29443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293B"/>
                </a:solidFill>
                <a:latin typeface="Arial"/>
              </a:rPr>
              <a:t>AWS EC2 t3.small
Ubuntu 24.04 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737360"/>
            <a:ext cx="3310128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737360"/>
            <a:ext cx="109728" cy="1371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883664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64748B"/>
                </a:solidFill>
                <a:latin typeface="Arial"/>
              </a:rPr>
              <a:t>ĐÓNG GÓI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194560"/>
            <a:ext cx="29443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293B"/>
                </a:solidFill>
                <a:latin typeface="Arial"/>
              </a:rPr>
              <a:t>Docker Compose
5 container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737360"/>
            <a:ext cx="3310128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737360"/>
            <a:ext cx="109728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1883664"/>
            <a:ext cx="2944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64748B"/>
                </a:solidFill>
                <a:latin typeface="Arial"/>
              </a:rPr>
              <a:t>TRUY CẬP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194560"/>
            <a:ext cx="29443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293B"/>
                </a:solidFill>
                <a:latin typeface="Arial"/>
              </a:rPr>
              <a:t>Công khai qua
Elastic 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11880"/>
            <a:ext cx="10424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>
                <a:solidFill>
                  <a:srgbClr val="4F46E5"/>
                </a:solidFill>
                <a:latin typeface="Arial"/>
              </a:rPr>
              <a:t>▸  </a:t>
            </a:r>
            <a:r>
              <a:rPr sz="1600">
                <a:solidFill>
                  <a:srgbClr val="1E293B"/>
                </a:solidFill>
                <a:latin typeface="Arial"/>
              </a:rPr>
              <a:t>Toàn bộ hệ thống chạy qua Docker Compose: PostgreSQL + Redis + backend + frontend + Caddy.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>
                <a:solidFill>
                  <a:srgbClr val="4F46E5"/>
                </a:solidFill>
                <a:latin typeface="Arial"/>
              </a:rPr>
              <a:t>▸  </a:t>
            </a:r>
            <a:r>
              <a:rPr sz="1600">
                <a:solidFill>
                  <a:srgbClr val="1E293B"/>
                </a:solidFill>
                <a:latin typeface="Arial"/>
              </a:rPr>
              <a:t>Caddy reverse proxy: định tuyến /api tới backend, còn lại tới frontend.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>
                <a:solidFill>
                  <a:srgbClr val="4F46E5"/>
                </a:solidFill>
                <a:latin typeface="Arial"/>
              </a:rPr>
              <a:t>▸  </a:t>
            </a:r>
            <a:r>
              <a:rPr sz="1600">
                <a:solidFill>
                  <a:srgbClr val="1E293B"/>
                </a:solidFill>
                <a:latin typeface="Arial"/>
              </a:rPr>
              <a:t>Tự khởi động lại sau khi server reboot (restart: unless-stopped).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>
                <a:solidFill>
                  <a:srgbClr val="4F46E5"/>
                </a:solidFill>
                <a:latin typeface="Arial"/>
              </a:rPr>
              <a:t>▸  </a:t>
            </a:r>
            <a:r>
              <a:rPr sz="1600">
                <a:solidFill>
                  <a:srgbClr val="1E293B"/>
                </a:solidFill>
                <a:latin typeface="Arial"/>
              </a:rPr>
              <a:t>Sản phẩm vận hành thực tế trên Internet, không chỉ chạy cục bộ.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46304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C7D2FE"/>
                </a:solidFill>
                <a:latin typeface="Arial"/>
              </a:rPr>
              <a:t>PHẦN 6 · KẾT LUẬN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Kết quả đạt được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lý Công việc cho Doanh nghiệp Nhỏ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 i="0">
                <a:solidFill>
                  <a:srgbClr val="4F46E5"/>
                </a:solidFill>
                <a:latin typeface="Arial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4F46E5"/>
                </a:solidFill>
                <a:latin typeface="Arial"/>
              </a:rPr>
              <a:t>▸  </a:t>
            </a:r>
            <a:r>
              <a:rPr sz="1900">
                <a:solidFill>
                  <a:srgbClr val="1E293B"/>
                </a:solidFill>
                <a:latin typeface="Arial"/>
              </a:rPr>
              <a:t>Hoàn thành 14/14 yêu cầu chức năng đã đặc tả (đạt 100%).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4F46E5"/>
                </a:solidFill>
                <a:latin typeface="Arial"/>
              </a:rPr>
              <a:t>▸  </a:t>
            </a:r>
            <a:r>
              <a:rPr sz="1900">
                <a:solidFill>
                  <a:srgbClr val="1E293B"/>
                </a:solidFill>
                <a:latin typeface="Arial"/>
              </a:rPr>
              <a:t>Gần 30 REST endpoint, phân quyền hai lớp theo 3 vai trò.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4F46E5"/>
                </a:solidFill>
                <a:latin typeface="Arial"/>
              </a:rPr>
              <a:t>▸  </a:t>
            </a:r>
            <a:r>
              <a:rPr sz="1900">
                <a:solidFill>
                  <a:srgbClr val="1E293B"/>
                </a:solidFill>
                <a:latin typeface="Arial"/>
              </a:rPr>
              <a:t>Đầy đủ Web + Mobile + AI gợi ý + giao diện song ngữ + chấm công GPS.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4F46E5"/>
                </a:solidFill>
                <a:latin typeface="Arial"/>
              </a:rPr>
              <a:t>▸  </a:t>
            </a:r>
            <a:r>
              <a:rPr sz="1900">
                <a:solidFill>
                  <a:srgbClr val="1E293B"/>
                </a:solidFill>
                <a:latin typeface="Arial"/>
              </a:rPr>
              <a:t>Đã triển khai chạy thật trên hạ tầng đám mây AWS EC2.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4F46E5"/>
                </a:solidFill>
                <a:latin typeface="Arial"/>
              </a:rPr>
              <a:t>▸  </a:t>
            </a:r>
            <a:r>
              <a:rPr sz="1900">
                <a:solidFill>
                  <a:srgbClr val="1E293B"/>
                </a:solidFill>
                <a:latin typeface="Arial"/>
              </a:rPr>
              <a:t>Tài liệu đầy đủ: báo cáo đồ án, sơ đồ UML, hướng dẫn cài đặt &amp; triển khai.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46304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C7D2FE"/>
                </a:solidFill>
                <a:latin typeface="Arial"/>
              </a:rPr>
              <a:t>PHẦN 6 · KẾT LUẬN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Hạn chế &amp; hướng phát triển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Hệ thống Quản lý Công việc cho Doanh nghiệp Nhỏ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 i="0">
                <a:solidFill>
                  <a:srgbClr val="4F46E5"/>
                </a:solidFill>
                <a:latin typeface="Arial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45920"/>
            <a:ext cx="5120640" cy="502920"/>
          </a:xfrm>
          <a:prstGeom prst="round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B91C1C"/>
                </a:solidFill>
                <a:latin typeface="Arial"/>
              </a:rPr>
              <a:t>HẠN CHẾ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B91C1C"/>
                </a:solidFill>
                <a:latin typeface="Arial"/>
              </a:rPr>
              <a:t>▸  </a:t>
            </a:r>
            <a:r>
              <a:rPr sz="1400">
                <a:solidFill>
                  <a:srgbClr val="1E293B"/>
                </a:solidFill>
                <a:latin typeface="Arial"/>
              </a:rPr>
              <a:t>Phụ thuộc Gemini API (giới hạn free tier).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B91C1C"/>
                </a:solidFill>
                <a:latin typeface="Arial"/>
              </a:rPr>
              <a:t>▸  </a:t>
            </a:r>
            <a:r>
              <a:rPr sz="1400">
                <a:solidFill>
                  <a:srgbClr val="1E293B"/>
                </a:solidFill>
                <a:latin typeface="Arial"/>
              </a:rPr>
              <a:t>Chưa có thông báo real-time.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B91C1C"/>
                </a:solidFill>
                <a:latin typeface="Arial"/>
              </a:rPr>
              <a:t>▸  </a:t>
            </a:r>
            <a:r>
              <a:rPr sz="1400">
                <a:solidFill>
                  <a:srgbClr val="1E293B"/>
                </a:solidFill>
                <a:latin typeface="Arial"/>
              </a:rPr>
              <a:t>Chưa có refresh token cho JWT.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B91C1C"/>
                </a:solidFill>
                <a:latin typeface="Arial"/>
              </a:rPr>
              <a:t>▸  </a:t>
            </a:r>
            <a:r>
              <a:rPr sz="1400">
                <a:solidFill>
                  <a:srgbClr val="1E293B"/>
                </a:solidFill>
                <a:latin typeface="Arial"/>
              </a:rPr>
              <a:t>Độ phủ unit test backend còn thấp (~15%).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645920"/>
            <a:ext cx="4937760" cy="502920"/>
          </a:xfrm>
          <a:prstGeom prst="round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00784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5803D"/>
                </a:solidFill>
                <a:latin typeface="Arial"/>
              </a:rPr>
              <a:t>HƯỚNG PHÁT TRIỂN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8600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▸  </a:t>
            </a:r>
            <a:r>
              <a:rPr sz="1400">
                <a:solidFill>
                  <a:srgbClr val="1E293B"/>
                </a:solidFill>
                <a:latin typeface="Arial"/>
              </a:rPr>
              <a:t>WebSocket cho thông báo real-time.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▸  </a:t>
            </a:r>
            <a:r>
              <a:rPr sz="1400">
                <a:solidFill>
                  <a:srgbClr val="1E293B"/>
                </a:solidFill>
                <a:latin typeface="Arial"/>
              </a:rPr>
              <a:t>Refresh token + thu hồi token.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▸  </a:t>
            </a:r>
            <a:r>
              <a:rPr sz="1400">
                <a:solidFill>
                  <a:srgbClr val="1E293B"/>
                </a:solidFill>
                <a:latin typeface="Arial"/>
              </a:rPr>
              <a:t>RAG + embeddings nâng cao AI gợi ý.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▸  </a:t>
            </a:r>
            <a:r>
              <a:rPr sz="1400">
                <a:solidFill>
                  <a:srgbClr val="1E293B"/>
                </a:solidFill>
                <a:latin typeface="Arial"/>
              </a:rPr>
              <a:t>CI/CD tự động; mở rộng sang Kubernetes.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▸  </a:t>
            </a:r>
            <a:r>
              <a:rPr sz="1400">
                <a:solidFill>
                  <a:srgbClr val="1E293B"/>
                </a:solidFill>
                <a:latin typeface="Arial"/>
              </a:rPr>
              <a:t>Phát triển phiên bản SaaS đa doanh nghiệp.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56048" y="1600200"/>
            <a:ext cx="2286000" cy="8686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6048" y="17373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TM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418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CẢM ƠN THẦY CÔ ĐÃ LẮNG NGHE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0" i="1">
                <a:solidFill>
                  <a:srgbClr val="C7D2FE"/>
                </a:solidFill>
                <a:latin typeface="Arial"/>
              </a:rPr>
              <a:t>Rất mong nhận được câu hỏi và góp ý từ hội đồng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A5B4FC"/>
                </a:solidFill>
                <a:latin typeface="Arial"/>
              </a:rPr>
              <a:t>Nguyễn Nhật Hảo  ·  23DTHC1  ·  GVHD: ThS. Dương Thành Phết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